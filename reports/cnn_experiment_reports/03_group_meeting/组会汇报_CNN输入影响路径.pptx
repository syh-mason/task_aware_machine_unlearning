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围绕导师提出的要求：改变十个输入特征中的一个，观察预测输出，并找到它到下游运行成本的影响路径。现阶段复用已经修复的CNN和两阶段优化，不重新训练。汇报分为单样本路径验证、节点成本诊断、多日期经济性三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条结论是路径已经打通：温度编码经过固定CNN影响多个输出，再经调度和再调度影响Cost。第二条结论是，本批112组原始CNN比较中，预测峰值与两类成本诊断峰值一致，不能为了预设叙事强行说二者不同。第三条是TAMU在所选分层日期中平均成本较低，但有真实反例，不能当成每个场景的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是官方TX-123BT的2019合成测试系统数据。模型为CNN，种子42，helpful删除20%的敏感样本。四种对照共享同一个冻结卷积核心，所谓重训练仅指原项目协议下910个仿射参数的重新拟合。TAMU采用平均L1等于0.1的既有恢复权重，本轮不针对温度扰动重新优化。当前测试集是全年前1752小时，也就是前73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先纠正输入的概念。每个时刻有14个节点，每节点10个特征，所以原始编码输入是140维。经过两层卷积、展平和线性层后，得到64维tanh隐藏表示，不能给每个隐藏维度直接取一个物理特征名。本次只改输入节点1的温度，也就是张量的零基位置0、0、0、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温度扰动采用加法，而不是把标准化值乘以百分比。训练集7008行给出的温度标准差约为0.935414个编码单位，对应7.936348K的温差。原模型全年归一化参数保持不变。五档输入共享同一条真实负荷，目的是测模型响应，不是模拟实际发生的天气。零扰动必须逐位恢复预测与Co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参考样本加一个训练标准差的温度扰动，原始CNN的14个输出节点都发生了大于一百万分之一MW的变化。最大绝对变化在输出节点4，为负0.278248MW，总预测负荷变化为负0.827542MW。这里输入节点是1，最大变化输出节点是4，两者不能混淆。完整五档曲线和逐节点表见实验报告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成本没有跳过计算。阶段一根据预测负荷调度发电，产生cost1；阶段二拿阶段一的PG和固定真实负荷再调度，产生cost2。对于参考样本正一个标准差，cost1下降0.481661，cost2下降6.296702，总Cost下降6.778363。这次主要是阶段二过量发电处理费用变化，不应推广成所有样本的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比较绝对总Cost，右图比较每个模型相对自己零扰动的变化。直接遗忘和重拟合预测头几乎重叠。TAMU在本参考点的绝对成本较低，正向扰动的变化幅度也较小，但负向扰动的变化幅度更大。因此应分别回答是否经济、是否敏感，而不是用一个指标代替另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回答预测变化最大节点是否就是Cost影响最大节点，设计了两种对照。隔离诊断以零扰动为背景，只保留一个输出变化；复位诊断以完整扰动为背景，只复位一个输出。参考样本还用128条顺序的抽样Shapley，考虑不同加入顺序下的边际成本。混合输出不一定来自可实现的CNN输入，因此这是输出反事实诊断，不是物理控制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原始CNN的28个日期、四档非零扰动，也就是112组比较中，预测峰值与隔离、复位Cost峰值都是一致的。参考样本Shapley检查也一致。这个结果不能被写成必然规律。另外，隔离影响相加与联合Cost变化最大相差3.246397，说明不能把逐节点隔离值直接堆成一个严格的成本贡献图。Shapley守恒是路径一致性，不是物理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减少只看一个时刻的偶然性，按测试期的1月、2月、3月分别划分真实总负荷的低中高三层。每层取三个互不重复日期，目标是接近层内10%、50%、90%的负荷分位。得到27个新日期，加原参考点为28个日期。选样池和选择清单先保存，再推理。当前3月只覆盖前14天，所以不能说已经做了全年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档扰动下，TAMU在所选27个日期上的平均Cost都低于原始模型和直接遗忘。图中右侧是TAMU减直接遗忘的配对成本差，阴影是日期间四分位区间，不是总体置信区间。排除零扰动后有108个场景，其中106个TAMU更便宜。要保留另外两个非零反例，并避免用平均优势宣称逐样本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主动报告这个反例。同一条真实负荷、负一个标准差时，TAMU的Cost为1209.299538，直接遗忘为1148.370328，TAMU更贵60.929210。正向扰动后它又低于直接遗忘。这里不能通过删掉这个日期来让结果好看；该日期来自事前分层规则，已经保留在所有汇总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方面，实验一当时49项测试通过，实验二扩展为累计57项，后者包含前者，不能相加。第二轮17360个QP全部optimal，完整复算的7840个预测逐位一致，成本CSV和轨迹逐字节一致。解释上仍有范围限制：一个种子、一个输入温度特征、前73天测试期；原项目全年归一化和测试分数选样的限制也未消除。Shapley抽样误差不能替代日期或模型的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建议先扩展其他物理特征，同时明确尺度和编码是否合法；再进行多个种子和预先确定场景的稳定性分析。若要讨论夏季或全年，必须重新设计独立时间划分和归一化评估，不能把原训练段直接叫作测试。ERCOT正式Cost实验仍需先确定节点映射。今天的核心交付是两份实验报告、图表、数据和可重复运行的脚本，而不是一个超出证据的普遍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CNN 输入扰动如何影响负荷预测与运行成本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两轮实验进展｜组会汇报｜目标汇报时长约12–15分钟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88136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9354B"/>
                </a:solidFill>
                <a:latin typeface="Noto Sans CJK SC"/>
              </a:defRPr>
            </a:pPr>
            <a:r>
              <a:t>从一个温度坐标出发，追踪到</a:t>
            </a:r>
          </a:p>
          <a:p>
            <a:pPr>
              <a:spcAft>
                <a:spcPts val="800"/>
              </a:spcAft>
              <a:defRPr sz="3100" b="1">
                <a:solidFill>
                  <a:srgbClr val="19354B"/>
                </a:solidFill>
                <a:latin typeface="Noto Sans CJK SC"/>
              </a:defRPr>
            </a:pPr>
            <a:r>
              <a:t>14个节点预测与两阶段电网运行成本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94760"/>
            <a:ext cx="3337560" cy="141732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977639"/>
            <a:ext cx="3017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7D8D"/>
                </a:solidFill>
                <a:latin typeface="Noto Sans CJK SC"/>
              </a:defRPr>
            </a:pPr>
            <a:r>
              <a:t>实验一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507992"/>
            <a:ext cx="29718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9354B"/>
                </a:solidFill>
                <a:latin typeface="Noto Sans CJK SC"/>
              </a:defRPr>
            </a:pPr>
            <a:r>
              <a:t>单样本 · 五档扰动 · 四模型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794760"/>
            <a:ext cx="3337560" cy="141732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3977639"/>
            <a:ext cx="3017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7D8D"/>
                </a:solidFill>
                <a:latin typeface="Noto Sans CJK SC"/>
              </a:defRPr>
            </a:pPr>
            <a:r>
              <a:t>实验二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4507992"/>
            <a:ext cx="29718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9354B"/>
                </a:solidFill>
                <a:latin typeface="Noto Sans CJK SC"/>
              </a:defRPr>
            </a:pPr>
            <a:r>
              <a:t>节点诊断 · 28日期 · 分层对照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794760"/>
            <a:ext cx="3337560" cy="141732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3977639"/>
            <a:ext cx="3017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7D8D"/>
                </a:solidFill>
                <a:latin typeface="Noto Sans CJK SC"/>
              </a:defRPr>
            </a:pPr>
            <a:r>
              <a:t>保留边界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4507992"/>
            <a:ext cx="29718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9354B"/>
                </a:solidFill>
                <a:latin typeface="Noto Sans CJK SC"/>
              </a:defRPr>
            </a:pPr>
            <a:r>
              <a:t>不把数值干预当作物理因果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本阶段得到三条可展示的结论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先报告观察到的事实，再说明它们不支持哪些推断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18520" cy="1152144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46504"/>
            <a:ext cx="274320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7D8D"/>
                </a:solidFill>
                <a:latin typeface="Noto Sans CJK SC"/>
              </a:defRPr>
            </a:pPr>
            <a:r>
              <a:t>路径已打通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92224"/>
            <a:ext cx="75895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54B"/>
                </a:solidFill>
                <a:latin typeface="Noto Sans CJK SC"/>
              </a:defRPr>
            </a:pPr>
            <a:r>
              <a:t>输入温度 → 14节点预测 → 调度 / 再调度 →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35808"/>
            <a:ext cx="11018520" cy="1152144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274320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7D8D"/>
                </a:solidFill>
                <a:latin typeface="Noto Sans CJK SC"/>
              </a:defRPr>
            </a:pPr>
            <a:r>
              <a:t>峰值在本批一致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27832"/>
            <a:ext cx="75895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54B"/>
                </a:solidFill>
                <a:latin typeface="Noto Sans CJK SC"/>
              </a:defRPr>
            </a:pPr>
            <a:r>
              <a:t>112组原始CNN非零扰动对照，隔离 / 复位诊断均一致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71416"/>
            <a:ext cx="11018520" cy="1152144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274320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7D8D"/>
                </a:solidFill>
                <a:latin typeface="Noto Sans CJK SC"/>
              </a:defRPr>
            </a:pPr>
            <a:r>
              <a:t>TAMU有平均优势，也有例外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663440"/>
            <a:ext cx="75895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54B"/>
                </a:solidFill>
                <a:latin typeface="Noto Sans CJK SC"/>
              </a:defRPr>
            </a:pPr>
            <a:r>
              <a:t>27个新日期的108个非零场景中，106个低于直接遗忘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固定模型与实验边界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保留原论文Cost定义、目标函数、数学约束及数据语义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00200"/>
          <a:ext cx="109727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281"/>
                <a:gridCol w="8509518"/>
              </a:tblGrid>
              <a:tr h="68580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项目</a:t>
                      </a:r>
                    </a:p>
                  </a:txBody>
                  <a:tcPr marL="73152" marR="73152" marT="36576" marB="36576">
                    <a:solidFill>
                      <a:srgbClr val="1935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固定设置</a:t>
                      </a:r>
                    </a:p>
                  </a:txBody>
                  <a:tcPr marL="73152" marR="73152" marT="36576" marB="36576">
                    <a:solidFill>
                      <a:srgbClr val="1935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数据 / 电网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官方 TX-123BT 2019 合成数据 / case14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模型与删除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CNN；seed42；helpful；20%敏感样本删除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四种对照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原始 / 直接遗忘 / 剩余样本重拟合头 / TAMU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TAMU与模型范围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平均L1=0.1；卷积核心固定，只比较预测头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测试覆盖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1752小时：2019-01-01 至 03-14；没有夏季验证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输入有140个编码值，64维是隐藏表示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温度：节点内零基索引4；本次位置 input[0,0,0,4]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118872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75104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496312"/>
            <a:ext cx="3127248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9354B"/>
                </a:solidFill>
                <a:latin typeface="Noto Sans CJK SC"/>
              </a:defRPr>
            </a:pPr>
            <a:r>
              <a:t>1 × 1 × 14 ×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74720" cy="118872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975104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冻结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496312"/>
            <a:ext cx="3127248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9354B"/>
                </a:solidFill>
                <a:latin typeface="Noto Sans CJK SC"/>
              </a:defRPr>
            </a:pPr>
            <a:r>
              <a:t>卷积 → 280 → tanh 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74720" cy="118872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75104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预测输出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496312"/>
            <a:ext cx="3127248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9354B"/>
                </a:solidFill>
                <a:latin typeface="Noto Sans CJK SC"/>
              </a:defRPr>
            </a:pPr>
            <a:r>
              <a:t>64 → 14节点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1088136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9354B"/>
                </a:solidFill>
                <a:latin typeface="Noto Sans CJK SC"/>
              </a:defRPr>
            </a:pPr>
            <a:r>
              <a:t>每节点10个特征：</a:t>
            </a:r>
          </a:p>
          <a:p>
            <a:pPr>
              <a:spcAft>
                <a:spcPts val="800"/>
              </a:spcAft>
              <a:defRPr sz="2200" b="0">
                <a:solidFill>
                  <a:srgbClr val="19354B"/>
                </a:solidFill>
                <a:latin typeface="Noto Sans CJK SC"/>
              </a:defRPr>
            </a:pPr>
            <a:r>
              <a:t>星期sin/cos、小时sin/cos、温度、短波/长波辐射、纬向/经向风速、风速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107899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7D8D"/>
                </a:solidFill>
                <a:latin typeface="Noto Sans CJK SC"/>
              </a:defRPr>
            </a:pPr>
            <a:r>
              <a:t>目标Load不属于输入；预测先反标准化，再以p.u.进入Cost程序。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实验一：只改变一个温度坐标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原始样本 test index 0；其余139个输入、权重与真实负荷固定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10972800" cy="114300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3327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19354B"/>
                </a:solidFill>
                <a:latin typeface="Noto Sans CJK SC"/>
              </a:defRPr>
            </a:pPr>
            <a:r>
              <a:t>x温度(k) = x温度(0) + k × σ训练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965960" cy="868680"/>
          </a:xfrm>
          <a:prstGeom prst="roundRect">
            <a:avLst/>
          </a:prstGeom>
          <a:solidFill>
            <a:srgbClr val="DC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456432"/>
            <a:ext cx="1737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7D8D"/>
                </a:solidFill>
                <a:latin typeface="Noto Sans CJK SC"/>
              </a:defRPr>
            </a:pPr>
            <a:r>
              <a:t>−1σ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8376" y="3246120"/>
            <a:ext cx="1965960" cy="868680"/>
          </a:xfrm>
          <a:prstGeom prst="roundRect">
            <a:avLst/>
          </a:prstGeom>
          <a:solidFill>
            <a:srgbClr val="DC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8104" y="3456432"/>
            <a:ext cx="1737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7D8D"/>
                </a:solidFill>
                <a:latin typeface="Noto Sans CJK SC"/>
              </a:defRPr>
            </a:pPr>
            <a:r>
              <a:t>−0.5σ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85232" y="3246120"/>
            <a:ext cx="1965960" cy="868680"/>
          </a:xfrm>
          <a:prstGeom prst="round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456432"/>
            <a:ext cx="1737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7D8D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246120"/>
            <a:ext cx="1965960" cy="868680"/>
          </a:xfrm>
          <a:prstGeom prst="roundRect">
            <a:avLst/>
          </a:prstGeom>
          <a:solidFill>
            <a:srgbClr val="DC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1816" y="3456432"/>
            <a:ext cx="1737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7D8D"/>
                </a:solidFill>
                <a:latin typeface="Noto Sans CJK SC"/>
              </a:defRPr>
            </a:pPr>
            <a:r>
              <a:t>+0.5σ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38944" y="3246120"/>
            <a:ext cx="1965960" cy="868680"/>
          </a:xfrm>
          <a:prstGeom prst="roundRect">
            <a:avLst/>
          </a:prstGeom>
          <a:solidFill>
            <a:srgbClr val="DC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48672" y="3456432"/>
            <a:ext cx="1737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7D8D"/>
                </a:solidFill>
                <a:latin typeface="Noto Sans CJK SC"/>
              </a:defRPr>
            </a:pPr>
            <a:r>
              <a:t>+1σ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51560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9354B"/>
                </a:solidFill>
                <a:latin typeface="Noto Sans CJK SC"/>
              </a:defRPr>
            </a:pPr>
            <a:r>
              <a:t>σ训练 = 0.935414141938 编码单位 ≈ 7.936348491 K</a:t>
            </a:r>
          </a:p>
          <a:p>
            <a:pPr>
              <a:spcAft>
                <a:spcPts val="800"/>
              </a:spcAft>
              <a:defRPr sz="2300" b="0">
                <a:solidFill>
                  <a:srgbClr val="19354B"/>
                </a:solidFill>
                <a:latin typeface="Noto Sans CJK SC"/>
              </a:defRPr>
            </a:pPr>
            <a:r>
              <a:t>只取训练段统计；零扰动作为独立验收控制。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改变一个温度输入，多个输出节点都发生变化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实验一，原始CNN，参考样本 +1σ；图中为相对零扰动的变化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7" name="Picture 6" descr="r1_plus1_node_ch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88665"/>
            <a:ext cx="7818120" cy="35664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828800"/>
            <a:ext cx="3063240" cy="356616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057400"/>
            <a:ext cx="26060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7D8D"/>
                </a:solidFill>
                <a:latin typeface="Noto Sans CJK SC"/>
              </a:defRPr>
            </a:pPr>
            <a:r>
              <a:t>节点4最大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880360"/>
            <a:ext cx="2606040" cy="2103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9354B"/>
                </a:solidFill>
                <a:latin typeface="Noto Sans CJK SC"/>
              </a:defRPr>
            </a:pPr>
            <a:r>
              <a:t>−0.278248 MW</a:t>
            </a:r>
          </a:p>
          <a:p>
            <a:pPr>
              <a:spcAft>
                <a:spcPts val="800"/>
              </a:spcAft>
              <a:defRPr sz="2300" b="0">
                <a:solidFill>
                  <a:srgbClr val="19354B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2300" b="0">
                <a:solidFill>
                  <a:srgbClr val="19354B"/>
                </a:solidFill>
                <a:latin typeface="Noto Sans CJK SC"/>
              </a:defRPr>
            </a:pPr>
            <a:r>
              <a:t>总预测变化</a:t>
            </a:r>
          </a:p>
          <a:p>
            <a:pPr>
              <a:spcAft>
                <a:spcPts val="800"/>
              </a:spcAft>
              <a:defRPr sz="2300" b="0">
                <a:solidFill>
                  <a:srgbClr val="19354B"/>
                </a:solidFill>
                <a:latin typeface="Noto Sans CJK SC"/>
              </a:defRPr>
            </a:pPr>
            <a:r>
              <a:t>−0.827542 MW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预测变化如何进入电网运行成本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预测负荷用于阶段一；阶段二仍使用该样本固定的真实负荷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07</a:t>
            </a:r>
          </a:p>
        </p:txBody>
      </p:sp>
      <p:pic>
        <p:nvPicPr>
          <p:cNvPr id="7" name="Picture 6" descr="r1_two_stage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44860"/>
            <a:ext cx="8229600" cy="39169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23960" y="1874519"/>
            <a:ext cx="2743200" cy="342900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128" y="2084831"/>
            <a:ext cx="2331720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354B"/>
                </a:solidFill>
                <a:latin typeface="Noto Sans CJK SC"/>
              </a:defRPr>
            </a:pPr>
            <a:r>
              <a:t>+1σ</a:t>
            </a:r>
          </a:p>
          <a:p>
            <a:pPr>
              <a:spcAft>
                <a:spcPts val="800"/>
              </a:spcAft>
              <a:defRPr sz="2100" b="1">
                <a:solidFill>
                  <a:srgbClr val="19354B"/>
                </a:solidFill>
                <a:latin typeface="Noto Sans CJK SC"/>
              </a:defRPr>
            </a:pPr>
            <a:r>
              <a:t>Δcost1 −0.481661</a:t>
            </a:r>
          </a:p>
          <a:p>
            <a:pPr>
              <a:spcAft>
                <a:spcPts val="800"/>
              </a:spcAft>
              <a:defRPr sz="2100" b="1">
                <a:solidFill>
                  <a:srgbClr val="19354B"/>
                </a:solidFill>
                <a:latin typeface="Noto Sans CJK SC"/>
              </a:defRPr>
            </a:pPr>
            <a:r>
              <a:t>Δcost2 −6.296702</a:t>
            </a:r>
          </a:p>
          <a:p>
            <a:pPr>
              <a:spcAft>
                <a:spcPts val="800"/>
              </a:spcAft>
              <a:defRPr sz="2100" b="1">
                <a:solidFill>
                  <a:srgbClr val="19354B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9354B"/>
                </a:solidFill>
                <a:latin typeface="Noto Sans CJK SC"/>
              </a:defRPr>
            </a:pPr>
            <a:r>
              <a:t>Δ总Cost −6.778363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绝对经济性和响应幅度，是两个不同问题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实验一：四种预测头、相同五档输入、相同真实负荷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7" name="Picture 6" descr="r1_four_model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36" y="1481328"/>
            <a:ext cx="11256046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7D8D"/>
                </a:solidFill>
                <a:latin typeface="Noto Sans CJK SC"/>
              </a:defRPr>
            </a:pPr>
            <a:r>
              <a:t>TAMU：+1σ的 |ΔCost| 较小；−1σ的 |ΔCost| 反而较大。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不能把预测变化量直接叫作成本贡献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节点诊断只干预预测输出向量；每个混合向量都重解原两阶段Cost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0972800" cy="105156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0116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隔离变化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01368"/>
            <a:ext cx="8229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54B"/>
                </a:solidFill>
                <a:latin typeface="Noto Sans CJK SC"/>
              </a:defRPr>
            </a:pPr>
            <a:r>
              <a:t>只有输出节点j采用扰动后的预测，其余保持零扰动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71800"/>
            <a:ext cx="10972800" cy="105156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20116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复位诊断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72968"/>
            <a:ext cx="8229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54B"/>
                </a:solidFill>
                <a:latin typeface="Noto Sans CJK SC"/>
              </a:defRPr>
            </a:pPr>
            <a:r>
              <a:t>从完整扰动向量中，只把输出节点j复位到零扰动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343400"/>
            <a:ext cx="10972800" cy="105156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20116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抽样 Shapley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544568"/>
            <a:ext cx="82296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9354B"/>
                </a:solidFill>
                <a:latin typeface="Noto Sans CJK SC"/>
              </a:defRPr>
            </a:pPr>
            <a:r>
              <a:t>64个独立排列及其逆序：128条路径，平均边际成本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本批峰值节点一致，但隔离影响不可直接相加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参考点 +1σ：输出节点4的抽样Shapley约为 −2.289145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7" name="Picture 6" descr="r2_node_at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65" y="1508760"/>
            <a:ext cx="10585108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338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7D8D"/>
                </a:solidFill>
                <a:latin typeface="Noto Sans CJK SC"/>
              </a:defRPr>
            </a:pPr>
            <a:r>
              <a:t>112组峰值一致 ≠ 普遍规律；隔离求和与联合 ΔCost 最大差 3.246397。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实验二：预先选择不同日期和真实负荷水平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选样不看模型预测或Cost；原参考点不计入27个新日期的平均值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2707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2022"/>
                <a:gridCol w="2230016"/>
                <a:gridCol w="2230016"/>
                <a:gridCol w="3345024"/>
              </a:tblGrid>
              <a:tr h="617220"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月内真实负荷层</a:t>
                      </a:r>
                    </a:p>
                  </a:txBody>
                  <a:tcPr marL="73152" marR="73152" marT="36576" marB="36576">
                    <a:solidFill>
                      <a:srgbClr val="1935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1月</a:t>
                      </a:r>
                    </a:p>
                  </a:txBody>
                  <a:tcPr marL="73152" marR="73152" marT="36576" marB="36576">
                    <a:solidFill>
                      <a:srgbClr val="1935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2月</a:t>
                      </a:r>
                    </a:p>
                  </a:txBody>
                  <a:tcPr marL="73152" marR="73152" marT="36576" marB="36576">
                    <a:solidFill>
                      <a:srgbClr val="1935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3月（仅前14天）</a:t>
                      </a:r>
                    </a:p>
                  </a:txBody>
                  <a:tcPr marL="73152" marR="73152" marT="36576" marB="36576">
                    <a:solidFill>
                      <a:srgbClr val="19354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300" b="0">
                          <a:solidFill>
                            <a:srgbClr val="19354B"/>
                          </a:solidFill>
                          <a:latin typeface="Noto Sans CJK SC"/>
                        </a:defRPr>
                      </a:pPr>
                      <a:r>
                        <a:t>3个日期</a:t>
                      </a:r>
                    </a:p>
                  </a:txBody>
                  <a:tcPr marL="73152" marR="73152" marT="36576" marB="36576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590288"/>
            <a:ext cx="10789920" cy="11155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7D8D"/>
                </a:solidFill>
                <a:latin typeface="Noto Sans CJK SC"/>
              </a:defRPr>
            </a:pPr>
            <a:r>
              <a:t>27 个新日期 + 1 个参考日期 = 28 个不同日期</a:t>
            </a:r>
          </a:p>
          <a:p>
            <a:pPr>
              <a:spcAft>
                <a:spcPts val="800"/>
              </a:spcAft>
              <a:defRPr sz="2700" b="1">
                <a:solidFill>
                  <a:srgbClr val="167D8D"/>
                </a:solidFill>
                <a:latin typeface="Noto Sans CJK SC"/>
              </a:defRPr>
            </a:pPr>
            <a:r>
              <a:t>28 × 4模型 × 5温度水平 = 560 组主场景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分层平均Cost较低，但不等于每个场景更优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27个新日期；配对比较中的真实负荷、输入和优化约束相同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7" name="Picture 6" descr="r2_cohort_mean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47" y="1463040"/>
            <a:ext cx="1069954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67D8D"/>
                </a:solidFill>
                <a:latin typeface="Noto Sans CJK SC"/>
              </a:defRPr>
            </a:pPr>
            <a:r>
              <a:t>108 个非零场景中，106 个 TAMU 低于直接遗忘；阴影不是总体置信区间。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反例：3月12日 −1σ，TAMU反而更贵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test index 1686，源Hour 7，月内低负荷；固定真实总负荷478.328583 MW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13</a:t>
            </a:r>
          </a:p>
        </p:txBody>
      </p:sp>
      <p:pic>
        <p:nvPicPr>
          <p:cNvPr id="7" name="Picture 6" descr="r2_counter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50541"/>
            <a:ext cx="8321040" cy="40427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920240"/>
            <a:ext cx="2606040" cy="3566160"/>
          </a:xfrm>
          <a:prstGeom prst="roundRect">
            <a:avLst/>
          </a:prstGeom>
          <a:solidFill>
            <a:srgbClr val="F7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25712" y="2148840"/>
            <a:ext cx="2194560" cy="2834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B53D3D"/>
                </a:solidFill>
                <a:latin typeface="Noto Sans CJK SC"/>
              </a:defRPr>
            </a:pPr>
            <a:r>
              <a:t>−1σ</a:t>
            </a:r>
          </a:p>
          <a:p>
            <a:pPr>
              <a:spcAft>
                <a:spcPts val="800"/>
              </a:spcAft>
              <a:defRPr sz="2000" b="1">
                <a:solidFill>
                  <a:srgbClr val="B53D3D"/>
                </a:solidFill>
                <a:latin typeface="Noto Sans CJK SC"/>
              </a:defRPr>
            </a:pPr>
            <a:r>
              <a:t>TAMU 1209.299538</a:t>
            </a:r>
          </a:p>
          <a:p>
            <a:pPr>
              <a:spcAft>
                <a:spcPts val="800"/>
              </a:spcAft>
              <a:defRPr sz="2000" b="1">
                <a:solidFill>
                  <a:srgbClr val="B53D3D"/>
                </a:solidFill>
                <a:latin typeface="Noto Sans CJK SC"/>
              </a:defRPr>
            </a:pPr>
            <a:r>
              <a:t>直接 1148.370328</a:t>
            </a:r>
          </a:p>
          <a:p>
            <a:pPr>
              <a:spcAft>
                <a:spcPts val="800"/>
              </a:spcAft>
              <a:defRPr sz="2000" b="1">
                <a:solidFill>
                  <a:srgbClr val="B53D3D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B53D3D"/>
                </a:solidFill>
                <a:latin typeface="Noto Sans CJK SC"/>
              </a:defRPr>
            </a:pPr>
            <a:r>
              <a:t>差值 +60.929210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验证充分，不代表推广范围无限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先区分工程正确性、描述性结果与泛化或因果结论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5166360" cy="196596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工程验收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475488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49 → 57项累计测试</a:t>
            </a:r>
          </a:p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17,360个QP均optimal</a:t>
            </a:r>
          </a:p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7,840个预测完整复算一致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166360" cy="196596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0136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结果边界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04288"/>
            <a:ext cx="475488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seed42；输入节点1温度</a:t>
            </a:r>
          </a:p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仅2019年前73天</a:t>
            </a:r>
          </a:p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分层日期不是随机总体样本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86200"/>
            <a:ext cx="5166360" cy="196596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4164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原协议限制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44568"/>
            <a:ext cx="475488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全年归一化先于划分</a:t>
            </a:r>
          </a:p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helpful/TAMU使用测试分数</a:t>
            </a:r>
          </a:p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尚未消除信息使用偏差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86200"/>
            <a:ext cx="5166360" cy="1965960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04164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7D8D"/>
                </a:solidFill>
                <a:latin typeface="Noto Sans CJK SC"/>
              </a:defRPr>
            </a:pPr>
            <a:r>
              <a:t>不要混淆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44568"/>
            <a:ext cx="4754880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平均经济性 ≠ 逐场景保证</a:t>
            </a:r>
          </a:p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MC误差 ≠ 总体置信区间</a:t>
            </a:r>
          </a:p>
          <a:p>
            <a:pPr>
              <a:spcAft>
                <a:spcPts val="800"/>
              </a:spcAft>
              <a:defRPr sz="1800" b="0">
                <a:solidFill>
                  <a:srgbClr val="19354B"/>
                </a:solidFill>
                <a:latin typeface="Noto Sans CJK SC"/>
              </a:defRPr>
            </a:pPr>
            <a:r>
              <a:t>输出反事实 ≠ 物理因果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9354B"/>
                </a:solidFill>
                <a:latin typeface="Noto Sans CJK SC"/>
              </a:defRPr>
            </a:pPr>
            <a:r>
              <a:t>下一步：扩展证据，而不是扩大表述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05256"/>
            <a:ext cx="11338560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5"/>
                </a:solidFill>
                <a:latin typeface="Noto Sans CJK SC"/>
              </a:defRPr>
            </a:pPr>
            <a:r>
              <a:t>本阶段：路径可追踪、对照可复算、反例已保留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6537960"/>
            <a:ext cx="107899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5"/>
                </a:solidFill>
                <a:latin typeface="Noto Sans CJK SC"/>
              </a:defRPr>
            </a:pPr>
            <a:r>
              <a:t>TX-123BT / case14  |  固定CNN与原两阶段Cost  |  整理 2026-10-17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67D8D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7D8D"/>
                </a:solidFill>
                <a:latin typeface="Noto Sans CJK SC"/>
              </a:defRPr>
            </a:pPr>
            <a:r>
              <a:t>已经完成：输入影响路径 + 四模型对照 + 节点诊断 + 多日期验证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10881360" cy="749808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044952"/>
            <a:ext cx="104241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9354B"/>
                </a:solidFill>
                <a:latin typeface="Noto Sans CJK SC"/>
              </a:defRPr>
            </a:pPr>
            <a:r>
              <a:t>1.  扩展其他物理特征：明确训练尺度与编码合法性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13048"/>
            <a:ext cx="10881360" cy="749808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77639"/>
            <a:ext cx="104241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9354B"/>
                </a:solidFill>
                <a:latin typeface="Noto Sans CJK SC"/>
              </a:defRPr>
            </a:pPr>
            <a:r>
              <a:t>2.  扩展多个种子与预设场景：分别报告均值、最差值和敏感性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45736"/>
            <a:ext cx="10881360" cy="749808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10328"/>
            <a:ext cx="104241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9354B"/>
                </a:solidFill>
                <a:latin typeface="Noto Sans CJK SC"/>
              </a:defRPr>
            </a:pPr>
            <a:r>
              <a:t>3.  全年 / ERCOT：先设计独立测试与节点映射，再做正式Cost实验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675"/>
                </a:solidFill>
                <a:latin typeface="Noto Sans CJK SC"/>
              </a:defRPr>
            </a:pPr>
            <a:r>
              <a:t>完整数值、复现命令与局限：随附两份实验报告及 source_manifest.json。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CNN输入扰动对预测与运行成本的影响：两轮实验组会汇报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