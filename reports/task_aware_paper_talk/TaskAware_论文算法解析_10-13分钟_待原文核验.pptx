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S01｜计划 25 秒</a:t>
            </a:r>
          </a:p>
          <a:p/>
          <a:p>
            <a:r>
              <a:t>这篇工作的对象是已经训练好的负荷预测器。我的汇报集中回答一个问题：移除部分训练数据的影响之后，怎样尽量保住电网运行的经济性。接下来先解释直接遗忘，再讲剩余样本重加权，最后把两阶段调度的梯度接回来。本文标题和作者由作者仓库确认；目前这份是算法工作稿，v2 全文、原图和正式定理表述尚待核对。</a:t>
            </a:r>
          </a:p>
          <a:p/>
          <a:p>
            <a:r>
              <a:t>来源：作者论文信息与摘要；v2 全文和图表仍待核对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S02｜计划 45 秒</a:t>
            </a:r>
          </a:p>
          <a:p/>
          <a:p>
            <a:r>
              <a:t>这里使用作者仓库提供的原始流程图，图像没有改写，也没有把我们的复现图冒充原文图。上半部分是数据删除请求，下半部分是对已经训练好的模型进行更新。需要区分删除数据文件和移除参数中的影响。我们将原数据划分成删除集和剩余集，参考对象是只在剩余数据上训练的模型。实际负荷规律在样本间共享，所以遗忘后仍然能预测删除样本，并不自动意味着遗忘失败。图号仍需原文核对。</a:t>
            </a:r>
          </a:p>
          <a:p/>
          <a:p>
            <a:r>
              <a:t>来源：作者仓库原始流程图 repo_src/unlearning.png；尚未核对是否与 v2 某图一致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S03｜计划 70 秒</a:t>
            </a:r>
          </a:p>
          <a:p/>
          <a:p>
            <a:r>
              <a:t>记旧参数为 theta 零，剩余数据的平均训练损失为 R r。完整集上原本接近平衡的梯度，在删除一批样本后通常失衡。直接遗忘计算旧参数处的剩余梯度，再解一个 Hessian 线性系统，把参数向剩余集最优点移动。这个负号来自 Newton 更新，不要和单样本增权的影响函数符号混淆。对固定特征的二次回归，Hessian 不随参数变化，一步就能等于直接重拟合；对整个非凸 CNN，只能把这种更新视为局部近似，不能直接声称精确遗忘。</a:t>
            </a:r>
          </a:p>
          <a:p/>
          <a:p>
            <a:r>
              <a:t>来源：作者 eval_unlearn.py / eval_unchange.py；本页为数学重述，无原文公式编号</a:t>
            </a:r>
          </a:p>
          <a:p/>
          <a:p>
            <a:r>
              <a:t>公式源文本：</a:t>
            </a:r>
          </a:p>
          <a:p>
            <a:r>
              <a:t>$R_r(\theta)=\frac{1}{m}\sum_{i\in D_r}\ell_i(\theta)$</a:t>
            </a:r>
          </a:p>
          <a:p>
            <a:r>
              <a:t>$g_r=\nabla R_r(\theta_0),\qquad H_r=\nabla^2 R_r(\theta_0)$</a:t>
            </a:r>
          </a:p>
          <a:p>
            <a:r>
              <a:t>$\theta_{\mathrm{MU}}=\theta_0-H_r^{-1}g_r$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S04｜计划 75 秒</a:t>
            </a:r>
          </a:p>
          <a:p/>
          <a:p>
            <a:r>
              <a:t>直接删除可能损失有用的统计信息，PAMU 因此调整剩余样本的权重。先看一个理想的加权训练问题：每个剩余样本有完整权重 w i。对它的驻点条件求导，就得到参数对权重的导数，里面是训练 Hessian 的逆乘样本梯度。再与外层性能 Q 的梯度相乘，就知道增加某个样本的权重会怎样影响性能。这里的公式在加权最优点处成立；作者实现为了高效，在旧参数处用局部量近似，下一页会区分它的实际评分。外层评价改变，基础拟合损失仍是 MSE。</a:t>
            </a:r>
          </a:p>
          <a:p/>
          <a:p>
            <a:r>
              <a:t>来源：标准驻点隐式求导 + 作者重加权实现；理想最优点推导与代码近似分开讲</a:t>
            </a:r>
          </a:p>
          <a:p/>
          <a:p>
            <a:r>
              <a:t>公式源文本：</a:t>
            </a:r>
          </a:p>
          <a:p>
            <a:r>
              <a:t>$\theta(w)=\arg\min_{\theta}\ \frac{1}{m}\sum_{i\in D_r}w_i\ell_i(\theta)$</a:t>
            </a:r>
          </a:p>
          <a:p>
            <a:r>
              <a:t>$\frac{\partial\theta}{\partial w_i}=-\frac{1}{m}H(w)^{-1}\nabla\ell_i(\theta(w))$</a:t>
            </a:r>
          </a:p>
          <a:p>
            <a:r>
              <a:t>$\frac{\partial Q}{\partial w_i}=-\frac{1}{m}\nabla Q^T H(w)^{-1}\nabla\ell_i$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S05｜计划 60 秒</a:t>
            </a:r>
          </a:p>
          <a:p/>
          <a:p>
            <a:r>
              <a:t>有了局部分数，重加权就转成一个线性规划：最小化分数与权重的内积。分数为负的样本，增加它的权重在局部有助于降低外层损失。两个约束分别控制总体改动量和单样本改动量，所以权重落在零到二之间。这里没有额外的权重总和约束，不能为了看起来更像概率分布而自行添加。平均 L1 预算 c 控制补偿力度，与删除比例是两个独立参数。删除记录已经从拟合集移除，不能因为补偿效果好就把它们重新加回。</a:t>
            </a:r>
          </a:p>
          <a:p/>
          <a:p>
            <a:r>
              <a:t>来源：作者 eval_unchange.py：cp.scalar_product、L1 与 Linf 约束</a:t>
            </a:r>
          </a:p>
          <a:p/>
          <a:p>
            <a:r>
              <a:t>公式源文本：</a:t>
            </a:r>
          </a:p>
          <a:p>
            <a:r>
              <a:t>$\min_w\ s^T w$</a:t>
            </a:r>
          </a:p>
          <a:p>
            <a:r>
              <a:t>$\|w-\mathbf{1}\|_1\le c\,m,\qquad \|w-\mathbf{1}\|_{\infty}\le 1$</a:t>
            </a:r>
          </a:p>
          <a:p>
            <a:r>
              <a:t>$0\le w_i\le 2$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S06｜计划 65 秒</a:t>
            </a:r>
          </a:p>
          <a:p/>
          <a:p>
            <a:r>
              <a:t>TAMU 的关键变化不是换一个更复杂的预测网络，而是把外层评价改成真实运行任务。预测负荷先送入调度，再结合真实负荷进行补救，两部分成本相加。在有线路和机组约束的系统中，同样大小的预测误差，发生在不同节点、朝不同方向偏离，成本可能很不一样。因此 MSE 小不等于 Cost 小。PAMU 当然也能计算和报告 Cost，它只是没有用 Cost 梯度指导这一轮重加权。这里把评估集写成 V；原代码实际使用 test loader，独立评估问题放在备份页说明。</a:t>
            </a:r>
          </a:p>
          <a:p/>
          <a:p>
            <a:r>
              <a:t>来源：作者摘要与 criteria=mse/mape/cost 分支；V 为讲解用评估集记号</a:t>
            </a:r>
          </a:p>
          <a:p/>
          <a:p>
            <a:r>
              <a:t>公式源文本：</a:t>
            </a:r>
          </a:p>
          <a:p>
            <a:r>
              <a:t>$Q_C(w)=\frac{1}{|V|}\sum_{(x,y)\in V}\left[C_1(z_1^*)+C_2(z_2^*)\right]$</a:t>
            </a:r>
          </a:p>
          <a:p>
            <a:r>
              <a:t>$\hat d=f_{\theta(w)}(x),\qquad z_1^*=z_1^*(\hat d),\qquad z_2^*=z_2^*(z_1^*,y)$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S07｜计划 80 秒</a:t>
            </a:r>
          </a:p>
          <a:p/>
          <a:p>
            <a:r>
              <a:t>第一阶段根据预测负荷安排发电，目标包括发电成本和必要的负荷削减惩罚，并满足 DC 功率平衡、机组上限与线路约束。第二阶段把第一阶段的发电作为给定参数，在真实负荷下处理不匹配，通过削减与过剩处理变量形成补救成本。这里的 generation storage 是仓库中的过剩处理变量，不能当作已经建模完整电池时序。总代价要包含两个阶段，尤其不能漏掉第一阶段的削减项。比较不同模型时，真实负荷和系统约束固定，变化来自各模型的负荷预测。</a:t>
            </a:r>
          </a:p>
          <a:p/>
          <a:p>
            <a:r>
              <a:t>来源：作者 utils/optimization.py 的 stage_one、stage_two；完整约束在备份 B3</a:t>
            </a:r>
          </a:p>
          <a:p/>
          <a:p>
            <a:r>
              <a:t>公式源文本：</a:t>
            </a:r>
          </a:p>
          <a:p>
            <a:r>
              <a:t>$z_1^*(\hat d)\in\arg\min_{p,s_1,\varphi_1}\ C_1(p,s_1)$</a:t>
            </a:r>
          </a:p>
          <a:p>
            <a:r>
              <a:t>$z_2^*(p^*,y)\in\arg\min_{s_2,g_s,\varphi_2}\ C_2(s_2,g_s)$</a:t>
            </a:r>
          </a:p>
          <a:p>
            <a:r>
              <a:t>$C_{\mathrm{total}}=C_1(p^*,s_1^*)+C_2(s_2^*,g_s^*)$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S08｜计划 95 秒</a:t>
            </a:r>
          </a:p>
          <a:p/>
          <a:p>
            <a:r>
              <a:t>最难的地方是最优解本身由约束优化决定，不能把它当普通显式函数。把原始变量、对偶变量和最优性条件组成 F 等于零。输入 a 变化时，对这个方程整体求导，就得到最优解对输入的导数。反向传播不必形成庞大 Jacobian，可以解一个转置线性系统，也就是伴随方程，再得到输入梯度。两阶段依次应用这个过程，就能把第二阶段成本传回第一阶段和预测器。本页只说明 KKT Jacobian 可逆等正则条件下的标准局部推导，不声称任意约束切换处都有唯一导数；原论文更具体的存在性结论仍需要 v2 全文核对。</a:t>
            </a:r>
          </a:p>
          <a:p/>
          <a:p>
            <a:r>
              <a:t>来源：标准 KKT / 伴随推导；非原文定理逐字转述，v2 定理假设仍待核对</a:t>
            </a:r>
          </a:p>
          <a:p/>
          <a:p>
            <a:r>
              <a:t>公式源文本：</a:t>
            </a:r>
          </a:p>
          <a:p>
            <a:r>
              <a:t>$F(z^*,a)=0$</a:t>
            </a:r>
          </a:p>
          <a:p>
            <a:r>
              <a:t>$\frac{\partial z^*}{\partial a}=-F_z^{-1}F_a$</a:t>
            </a:r>
          </a:p>
          <a:p>
            <a:r>
              <a:t>$F_z^T v=\nabla_z C,\qquad \nabla_a C=\partial_a C-F_a^T v$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S09｜计划 70 秒</a:t>
            </a:r>
          </a:p>
          <a:p/>
          <a:p>
            <a:r>
              <a:t>现在把两个方向接起来。可微优化给出 Cost 对预测器参数的梯度 v C；剩余集训练 MSE 提供 Hessian H r。只需求解 H r 乘 u 等于 v C，然后逐个样本做梯度内积，就得到权重方向，不需要为每个样本重训整个模型。注意，这个 Hessian 来自训练 MSE，而不是运行成本。作者实现的样本分数再除以原拟合集大小 n，和刚才理想推导中的 m 约定不同；同一固定正数缩放不改变该线性规划的最优解，但影响分数数值解释。评估点也需要按代码区分。</a:t>
            </a:r>
          </a:p>
          <a:p/>
          <a:p>
            <a:r>
              <a:t>来源：作者 eval_unchange.py：M=-inverse_hvp(grad_test_ave)，scores/=len(dataset_train)</a:t>
            </a:r>
          </a:p>
          <a:p/>
          <a:p>
            <a:r>
              <a:t>公式源文本：</a:t>
            </a:r>
          </a:p>
          <a:p>
            <a:r>
              <a:t>$v_C=\nabla_{\theta}Q_C,\qquad H_r u=v_C$</a:t>
            </a:r>
          </a:p>
          <a:p>
            <a:r>
              <a:t>$s_i=-\frac{1}{n}\,g_i^T u,\qquad g_i=\nabla_{\theta}\ell_i(\theta_0)$</a:t>
            </a:r>
          </a:p>
          <a:p>
            <a:r>
              <a:t>$\text{Cost}\ \longrightarrow\ \text{forecast}\ \longrightarrow\ \theta\ \longrightarrow\ w_i$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S10｜计划 60 秒</a:t>
            </a:r>
          </a:p>
          <a:p/>
          <a:p>
            <a:r>
              <a:t>把全流程压缩成五步：先确定需要删除哪些记录；计算评估场景的运行成本梯度；通过逆 Hessian 向量积得到每条剩余样本的局部分数；解权重线性规划；最后在加权训练 MSE 上更新参数。这里有一个容易写错的细节：最后一次拟合要使用加权目标的 Hessian，它一般不同于评分阶段的剩余集 Hessian。作者代码会重新构造带权 loader 和模块，而不是把评分的矩阵直接沿用。对固定特征二次预测头，这个最后步骤可与加权重拟合对应；不等于全网以 Cost 做端到端训练。</a:t>
            </a:r>
          </a:p>
          <a:p/>
          <a:p>
            <a:r>
              <a:t>来源：作者 eval_unchange.py 的 with_weight=True 和最后一次 stest / reconstruct_model</a:t>
            </a:r>
          </a:p>
          <a:p/>
          <a:p>
            <a:r>
              <a:t>公式源文本：</a:t>
            </a:r>
          </a:p>
          <a:p>
            <a:r>
              <a:t>$R_w(\theta)=\frac{1}{m}\sum_{i\in D_r}w_i\ell_i(\theta)$</a:t>
            </a:r>
          </a:p>
          <a:p>
            <a:r>
              <a:t>$\theta_{\mathrm{TAMU}}=\theta_0-H_w^{-1}\nabla R_w(\theta_0)$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S11｜计划 35 秒</a:t>
            </a:r>
          </a:p>
          <a:p/>
          <a:p>
            <a:r>
              <a:t>理解方法之后，还要说明结论边界。影响函数与权重规划是局部工具，大比例删除和特征表示变化时需要匹配重训基线。神经网络代码采用核心与敏感头分离，不能把预测头结论推广到全部层。原实现还用 test loader 计算外层梯度，后续研究应使用独立验证和测试协议。本稿尚未取得 v2 实验原图，因此没有量化复述作者结果，也没有用我们已有的复现图顶替。</a:t>
            </a:r>
          </a:p>
          <a:p/>
          <a:p>
            <a:r>
              <a:t>来源：作者 README / eval_unchange.py / func_operation.py；本页为实现边界分析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S12｜计划 30 秒</a:t>
            </a:r>
          </a:p>
          <a:p/>
          <a:p>
            <a:r>
              <a:t>最后记住这条递进关系。直接遗忘试图抵消删除带来的参数影响；PAMU 用剩余样本重加权补偿统计性能；TAMU 再把补偿目标换成电网运行成本。真正连接两端的是样本梯度、训练 Hessian 和 Cost 梯度形成的影响分数。它提供一种任务感知的补偿机制，但不自动等于完整隐私认证，也不保证任何场景都更便宜。</a:t>
            </a:r>
          </a:p>
          <a:p/>
          <a:p>
            <a:r>
              <a:t>来源：算法讲解总结；文献与来源状态见备份 B5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B01｜计划 0 秒</a:t>
            </a:r>
          </a:p>
          <a:p/>
          <a:p>
            <a:r>
              <a:t>若被问到负号，从训练驻点条件开始，对样本权重求导即可。一般影响函数是无穷小导数；整条删除和批量删除是有限变化。作者实现同时利用剩余集 Hessian，并以旧参数计算样本和外层梯度。因此不要把理想加权最优点处的导数，与代码所有求值点完全等同。</a:t>
            </a:r>
          </a:p>
          <a:p/>
          <a:p>
            <a:r>
              <a:t>来源：标准影响函数推导；无原文公式编号</a:t>
            </a:r>
          </a:p>
          <a:p/>
          <a:p>
            <a:r>
              <a:t>公式源文本：</a:t>
            </a:r>
          </a:p>
          <a:p>
            <a:r>
              <a:t>$\nabla R(\theta_\epsilon)+\epsilon\nabla\ell_i(\theta_\epsilon)=0$</a:t>
            </a:r>
          </a:p>
          <a:p>
            <a:r>
              <a:t>$H\frac{d\theta_\epsilon}{d\epsilon}+g_i=0$</a:t>
            </a:r>
          </a:p>
          <a:p>
            <a:r>
              <a:t>$\frac{d\theta_\epsilon}{d\epsilon}\bigg|_{0}=-H^{-1}g_i$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B02｜计划 0 秒</a:t>
            </a:r>
          </a:p>
          <a:p/>
          <a:p>
            <a:r>
              <a:t>这个式子用一半平方损失方便写 Hessian。实际代码还按节点维度归一化，要同步换算。若矩阵不满秩，不能静默加正则项并声称目标没变；需要声明广义逆、正则化或重训协议。若核心或预处理含有删除数据影响，仅更新头还不足以证明整个流程删除。</a:t>
            </a:r>
          </a:p>
          <a:p/>
          <a:p>
            <a:r>
              <a:t>来源：作者 NN-affine 结构 + 标准最小二乘；归一化常数须与实际损失一致</a:t>
            </a:r>
          </a:p>
          <a:p/>
          <a:p>
            <a:r>
              <a:t>公式源文本：</a:t>
            </a:r>
          </a:p>
          <a:p>
            <a:r>
              <a:t>$R_w(B)=\frac{1}{2m}\|W^{1/2}(ZB-Y)\|_F^2$</a:t>
            </a:r>
          </a:p>
          <a:p>
            <a:r>
              <a:t>$H_w=\frac{1}{m}Z^T W Z$</a:t>
            </a:r>
          </a:p>
          <a:p>
            <a:r>
              <a:t>$B^*=(Z^T W Z)^{-1}Z^T W Y$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B03｜计划 0 秒</a:t>
            </a:r>
          </a:p>
          <a:p/>
          <a:p>
            <a:r>
              <a:t>这页用于约束细节问答。第一阶段包括发电二次项、线性项和削减惩罚；第二阶段包括削减和过剩处理的线性、二次惩罚。两阶段都满足 DC 平衡、线路限额和参考相角。第一阶段机组上限不能遗漏。原实现未写出削减不超过负荷、过剩处理不超过计划这两类上界，不能在复述时随意加入。</a:t>
            </a:r>
          </a:p>
          <a:p/>
          <a:p>
            <a:r>
              <a:t>来源：作者 utils/optimization.py：stage_one / stage_two；符号为讲解统一记号</a:t>
            </a:r>
          </a:p>
          <a:p/>
          <a:p>
            <a:r>
              <a:t>公式源文本：</a:t>
            </a:r>
          </a:p>
          <a:p>
            <a:r>
              <a:t>$C_1=p^T Qp+c^T p+\lambda\mathbf{1}^T s_1$</a:t>
            </a:r>
          </a:p>
          <a:p>
            <a:r>
              <a:t>$C_2=\lambda\mathbf{1}^T s_2+\kappa\|s_2\|_2^2+\rho\mathbf{1}^T g_s+\eta\|g_s\|_2^2$</a:t>
            </a:r>
          </a:p>
          <a:p>
            <a:r>
              <a:t>$B_{\rm bus}\varphi_1=C_g p-C_l(\hat d-s_1)$</a:t>
            </a:r>
          </a:p>
          <a:p>
            <a:r>
              <a:t>$B_{\rm bus}\varphi_2=C_g(p^*-g_s)-C_l(y-s_2)$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B04｜计划 0 秒</a:t>
            </a:r>
          </a:p>
          <a:p/>
          <a:p>
            <a:r>
              <a:t>这是材料准备页，不计入主讲。当前只有作者仓库流程原图可用，尚不能确认其 v2 对应图号。原论文结果图不能让生成模型凭空补画。补图文档只描述可选的教学示意图：重加权对象、Cost 梯度路径、冻结核心与预测头范围。取得原文后先选最能支持主张的一到两张结果图，再决定是否需要补图。</a:t>
            </a:r>
          </a:p>
          <a:p/>
          <a:p>
            <a:r>
              <a:t>来源：图号、子图和结果结论均待 v2 PDF 核验；不预设论文一定含某种具体图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B05｜计划 0 秒</a:t>
            </a:r>
          </a:p>
          <a:p/>
          <a:p>
            <a:r>
              <a:t>这页用于诚实说明材料来源。作者代码与原始流程图固定到 98a3e7b 提交。MIT How to Speak 官方课程仓库已取得，页面包含开场承诺、工具、说服和结尾等章节，但不声称看完视频。NSE 指南页面目前没有取得，因此这里只把受众、主张、证据、视觉层次等原则作为适配设计，不声称逐字引用或获得 MIT 评分。论文 PDF 到位后需要核对公式、定理假设和所有原文图表。</a:t>
            </a:r>
          </a:p>
          <a:p/>
          <a:p>
            <a:r>
              <a:t>来源：来源和访问错误完整记录在 source_manifest.json 与设计核对表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html/2308.14412v2" TargetMode="External"/><Relationship Id="rId3" Type="http://schemas.openxmlformats.org/officeDocument/2006/relationships/hyperlink" Target="https://github.com/xuwkk/task_aware_machine_unlearning/tree/98a3e7bf177fe40d1d538e63a869578338d70c81" TargetMode="External"/><Relationship Id="rId4" Type="http://schemas.openxmlformats.org/officeDocument/2006/relationships/hyperlink" Target="https://ocw.mit.edu/courses/res-tll-005-how-to-speak-january-iap-2018/pages/how-to-speak/" TargetMode="External"/><Relationship Id="rId5" Type="http://schemas.openxmlformats.org/officeDocument/2006/relationships/hyperlink" Target="https://mitcommlab.mit.edu/nse/commkit/slideshow/" TargetMode="Externa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087F8C"/>
                </a:solidFill>
                <a:latin typeface="Noto Sans CJK SC"/>
                <a:ea typeface="Noto Sans CJK SC"/>
              </a:rPr>
              <a:t>TASK-AWARE MACHINE UNLEARNING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500" b="1">
                <a:solidFill>
                  <a:srgbClr val="16354A"/>
                </a:solidFill>
                <a:latin typeface="Noto Sans CJK SC"/>
                <a:ea typeface="Noto Sans CJK SC"/>
              </a:rPr>
              <a:t>删除训练数据之后，如何保住电网运行经济性？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80360"/>
            <a:ext cx="106984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900" b="0">
                <a:solidFill>
                  <a:srgbClr val="596B77"/>
                </a:solidFill>
                <a:latin typeface="Noto Sans CJK SC"/>
                <a:ea typeface="Noto Sans CJK SC"/>
              </a:rPr>
              <a:t>Task-Aware Machine Unlearning and Its Application in Load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776472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596B77"/>
                </a:solidFill>
                <a:latin typeface="Noto Sans CJK SC"/>
                <a:ea typeface="Noto Sans CJK SC"/>
              </a:rPr>
              <a:t>Wangkun Xu · Fei Teng  |  IEEE Transactions on Power Systems,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645152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087F8C"/>
                </a:solidFill>
                <a:latin typeface="Noto Sans CJK SC"/>
                <a:ea typeface="Noto Sans CJK SC"/>
              </a:rPr>
              <a:t>本次只讲三件事：如何删、如何补偿、Cost 梯度怎样传回来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6692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>
                <a:solidFill>
                  <a:srgbClr val="596B77"/>
                </a:solidFill>
                <a:latin typeface="Noto Sans CJK SC"/>
                <a:ea typeface="Noto Sans CJK SC"/>
              </a:rPr>
              <a:t>10–13 分钟算法汇报  |  12 张主讲 + 5 张备份  |  计划 11 分 50 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36422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B75331"/>
                </a:solidFill>
                <a:latin typeface="Noto Sans CJK SC"/>
                <a:ea typeface="Noto Sans CJK SC"/>
              </a:rPr>
              <a:t>工作稿：论文 v2 全文、原文图表及定理假设尚待核对。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45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遗忘需要移除样本影响，而不只是删除数据文件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直接删除记录，并不会自动改变已经学到的参数。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作者仓库原始流程图 repo_src/unlearning.png；尚未核对是否与 v2 某图一致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02</a:t>
            </a:r>
          </a:p>
        </p:txBody>
      </p:sp>
      <p:pic>
        <p:nvPicPr>
          <p:cNvPr id="10" name="Picture 9" descr="author_repository_un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12" y="1417320"/>
            <a:ext cx="7102183" cy="4160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02168" y="1572768"/>
            <a:ext cx="3291840" cy="3822191"/>
          </a:xfrm>
          <a:prstGeom prst="roundRect">
            <a:avLst>
              <a:gd name="adj" fmla="val 5000"/>
            </a:avLst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828800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243D4E"/>
                </a:solidFill>
                <a:latin typeface="Noto Sans CJK SC"/>
                <a:ea typeface="Noto Sans CJK SC"/>
              </a:rPr>
              <a:t>删除集 D_f：从后续拟合中移除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907791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剩余集 D_r：承担预测能力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986783"/>
            <a:ext cx="2880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目标：接近“未用删除数据训练”的参考模型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直接遗忘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70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直接遗忘用剩余集曲率修正删除后的梯度失衡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二次目标 + 固定特征 + 可逆 Hessian 时，一步可等于剩余集重拟合。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eval_unlearn.py / eval_unchange.py；本页为数学重述，无原文公式编号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03</a:t>
            </a:r>
          </a:p>
        </p:txBody>
      </p:sp>
      <p:pic>
        <p:nvPicPr>
          <p:cNvPr id="10" name="S03:equation:1" descr="$R_r(\theta)=\frac{1}{m}\sum_{i\in D_r}\ell_i(\theta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819" y="1444752"/>
            <a:ext cx="1869880" cy="530352"/>
          </a:xfrm>
          <a:prstGeom prst="rect">
            <a:avLst/>
          </a:prstGeom>
        </p:spPr>
      </p:pic>
      <p:pic>
        <p:nvPicPr>
          <p:cNvPr id="11" name="S03:equation:2" descr="$g_r=\nabla R_r(\theta_0),\qquad H_r=\nabla^2 R_r(\theta_0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244" y="2130552"/>
            <a:ext cx="5509031" cy="530352"/>
          </a:xfrm>
          <a:prstGeom prst="rect">
            <a:avLst/>
          </a:prstGeom>
        </p:spPr>
      </p:pic>
      <p:pic>
        <p:nvPicPr>
          <p:cNvPr id="12" name="S03:equation:3" descr="$\theta_{\mathrm{MU}}=\theta_0-H_r^{-1}g_r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52" y="2816352"/>
            <a:ext cx="2999014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删除前：完整集梯度在最优点附近平衡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删除后：剩余集在旧参数处通常不再驻定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Newton 更新：用剩余集梯度与曲率纠偏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PAMU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75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PAMU 通过重加权剩余样本补偿性能变化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局部影响函数把“补偿哪个样本”变成可计算的方向。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标准驻点隐式求导 + 作者重加权实现；理想最优点推导与代码近似分开讲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04</a:t>
            </a:r>
          </a:p>
        </p:txBody>
      </p:sp>
      <p:pic>
        <p:nvPicPr>
          <p:cNvPr id="10" name="S04:equation:1" descr="$\theta(w)=\arg\min_{\theta}\ \frac{1}{m}\sum_{i\in D_r}w_i\ell_i(\theta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266" y="1444752"/>
            <a:ext cx="2914986" cy="530352"/>
          </a:xfrm>
          <a:prstGeom prst="rect">
            <a:avLst/>
          </a:prstGeom>
        </p:spPr>
      </p:pic>
      <p:pic>
        <p:nvPicPr>
          <p:cNvPr id="11" name="S04:equation:2" descr="$\frac{\partial\theta}{\partial w_i}=-\frac{1}{m}H(w)^{-1}\nabla\ell_i(\theta(w)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811" y="2130552"/>
            <a:ext cx="3577897" cy="530352"/>
          </a:xfrm>
          <a:prstGeom prst="rect">
            <a:avLst/>
          </a:prstGeom>
        </p:spPr>
      </p:pic>
      <p:pic>
        <p:nvPicPr>
          <p:cNvPr id="12" name="S04:equation:3" descr="$\frac{\partial Q}{\partial w_i}=-\frac{1}{m}\nabla Q^T H(w)^{-1}\nabla\ell_i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506" y="2816352"/>
            <a:ext cx="3244506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外层 Q：MSE 或 MAPE 等统计性能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内层拟合：仍使用加权训练 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改变的是样本权重，不是直接指定某个网络参数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PAMU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权重线性规划限制补偿幅度，而不要求权重和固定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原实现没有 Σw_i=m 约束；c=0.1 也不是“遗忘 10%”。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eval_unchange.py：cp.scalar_product、L1 与 Linf 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05</a:t>
            </a:r>
          </a:p>
        </p:txBody>
      </p:sp>
      <p:pic>
        <p:nvPicPr>
          <p:cNvPr id="10" name="S05:equation:1" descr="$\min_w\ s^T w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02" y="1444752"/>
            <a:ext cx="1335114" cy="530352"/>
          </a:xfrm>
          <a:prstGeom prst="rect">
            <a:avLst/>
          </a:prstGeom>
        </p:spPr>
      </p:pic>
      <p:pic>
        <p:nvPicPr>
          <p:cNvPr id="11" name="S05:equation:2" descr="$\|w-\mathbf{1}\|_1\le c\,m,\qquad \|w-\mathbf{1}\|_{\infty}\le 1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962" y="2130552"/>
            <a:ext cx="6673596" cy="530352"/>
          </a:xfrm>
          <a:prstGeom prst="rect">
            <a:avLst/>
          </a:prstGeom>
        </p:spPr>
      </p:pic>
      <p:pic>
        <p:nvPicPr>
          <p:cNvPr id="12" name="S05:equation:3" descr="$0\le w_i\le 2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699" y="2816352"/>
            <a:ext cx="2192121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s_i &lt; 0：增权有望降低外层损失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平均 L1 预算 c：允许偏离均匀权重的程度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删除样本不参与剩余集拟合；其有效权重为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TAMU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TAMU 将外层评价从预测误差换成实际运行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低 MSE 不自动保证低 Cost：误差的位置和方向也重要。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作者摘要与 criteria=mse/mape/cost 分支；V 为讲解用评估集记号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06</a:t>
            </a:r>
          </a:p>
        </p:txBody>
      </p:sp>
      <p:pic>
        <p:nvPicPr>
          <p:cNvPr id="10" name="S06:equation:1" descr="$Q_C(w)=\frac{1}{|V|}\sum_{(x,y)\in V}\left[C_1(z_1^*)+C_2(z_2^*)\right]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841" y="1444752"/>
            <a:ext cx="3629836" cy="530352"/>
          </a:xfrm>
          <a:prstGeom prst="rect">
            <a:avLst/>
          </a:prstGeom>
        </p:spPr>
      </p:pic>
      <p:pic>
        <p:nvPicPr>
          <p:cNvPr id="11" name="S06:equation:2" descr="$\hat d=f_{\theta(w)}(x),\qquad z_1^*=z_1^*(\hat d),\qquad z_2^*=z_2^*(z_1^*,y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125" y="2130552"/>
            <a:ext cx="7029268" cy="5303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29626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PAMU：让剩余样本有利于 MSE / MAPE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655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TAMU：让剩余样本有利于下游调度成本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684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两者都可评价 Cost；区别在于重加权时用什么梯度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TAMU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80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预测决定首阶段调度，真实负荷决定第二阶段补救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第二阶段使用固定真实负荷；模型改变的是预测与首阶段计划。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utils/optimization.py 的 stage_one、stage_two；完整约束在备份 B3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07</a:t>
            </a:r>
          </a:p>
        </p:txBody>
      </p:sp>
      <p:pic>
        <p:nvPicPr>
          <p:cNvPr id="10" name="S07:equation:1" descr="$z_1^*(\hat d)\in\arg\min_{p,s_1,\varphi_1}\ C_1(p,s_1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92" y="1444752"/>
            <a:ext cx="3259134" cy="530352"/>
          </a:xfrm>
          <a:prstGeom prst="rect">
            <a:avLst/>
          </a:prstGeom>
        </p:spPr>
      </p:pic>
      <p:pic>
        <p:nvPicPr>
          <p:cNvPr id="11" name="S07:equation:2" descr="$z_2^*(p^*,y)\in\arg\min_{s_2,g_s,\varphi_2}\ C_2(s_2,g_s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951" y="2130552"/>
            <a:ext cx="4223617" cy="530352"/>
          </a:xfrm>
          <a:prstGeom prst="rect">
            <a:avLst/>
          </a:prstGeom>
        </p:spPr>
      </p:pic>
      <p:pic>
        <p:nvPicPr>
          <p:cNvPr id="12" name="S07:equation:3" descr="$C_{\mathrm{total}}=C_1(p^*,s_1^*)+C_2(s_2^*,g_s^*)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27" y="2816352"/>
            <a:ext cx="5389265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阶段一：发电成本 + 预测下的负荷削减惩罚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阶段二：真实负荷不匹配的削减 / 过剩处理惩罚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约束：DC 功率平衡、线路容量、相角基准等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梯度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95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优化层的梯度来自 KKT 条件的隐式求导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“求出最优值”与“把最优解作为可微层”是两件事。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标准 KKT / 伴随推导；非原文定理逐字转述，v2 定理假设仍待核对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08</a:t>
            </a:r>
          </a:p>
        </p:txBody>
      </p:sp>
      <p:pic>
        <p:nvPicPr>
          <p:cNvPr id="10" name="S08:equation:1" descr="$F(z^*,a)=0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39" y="1444752"/>
            <a:ext cx="2271441" cy="530352"/>
          </a:xfrm>
          <a:prstGeom prst="rect">
            <a:avLst/>
          </a:prstGeom>
        </p:spPr>
      </p:pic>
      <p:pic>
        <p:nvPicPr>
          <p:cNvPr id="11" name="S08:equation:2" descr="$\frac{\partial z^*}{\partial a}=-F_z^{-1}F_a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74" y="2130552"/>
            <a:ext cx="1977771" cy="530352"/>
          </a:xfrm>
          <a:prstGeom prst="rect">
            <a:avLst/>
          </a:prstGeom>
        </p:spPr>
      </p:pic>
      <p:pic>
        <p:nvPicPr>
          <p:cNvPr id="12" name="S08:equation:3" descr="$F_z^T v=\nabla_z C,\qquad \nabla_a C=\partial_a C-F_a^T v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725" y="2816352"/>
            <a:ext cx="5460069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F：把驻点、可行性和互补条件写成方程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a：预测负荷，或上一阶段传入的调度参数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正则条件成立时，求导转为求解线性系统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梯度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70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Cost 梯度与样本梯度通过一次 iHVP 相遇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作者评分按原训练样本数 n 归一化；它是实现中的局部近似。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eval_unchange.py：M=-inverse_hvp(grad_test_ave)，scores/=len(dataset_train)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09</a:t>
            </a:r>
          </a:p>
        </p:txBody>
      </p:sp>
      <p:pic>
        <p:nvPicPr>
          <p:cNvPr id="10" name="S09:equation:1" descr="$v_C=\nabla_{\theta}Q_C,\qquad H_r u=v_C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826" y="1444752"/>
            <a:ext cx="5191866" cy="530352"/>
          </a:xfrm>
          <a:prstGeom prst="rect">
            <a:avLst/>
          </a:prstGeom>
        </p:spPr>
      </p:pic>
      <p:pic>
        <p:nvPicPr>
          <p:cNvPr id="11" name="S09:equation:2" descr="$s_i=-\frac{1}{n}\,g_i^T u,\qquad g_i=\nabla_{\theta}\ell_i(\theta_0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088" y="2130552"/>
            <a:ext cx="4691342" cy="530352"/>
          </a:xfrm>
          <a:prstGeom prst="rect">
            <a:avLst/>
          </a:prstGeom>
        </p:spPr>
      </p:pic>
      <p:pic>
        <p:nvPicPr>
          <p:cNvPr id="12" name="S09:equation:3" descr="$\text{Cost}\ \longrightarrow\ \text{forecast}\ \longrightarrow\ \theta\ \longrightarrow\ w_i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865" y="2816352"/>
            <a:ext cx="6937789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v_C：Cost 对预测器参数的梯度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H_r：剩余集训练 MSE 的 Hessian，不是 Cost Hessian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一次求解得到 u，再与每个样本梯度做内积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60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求出权重后，TAMU 仍执行加权 MSE 的参数更新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最终 H_w 随权重变化，不能直接复用评分时的 H_r。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eval_unchange.py 的 with_weight=True 和最后一次 stest / reconstruct_model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08760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① 固定删除集，构造剩余集与旧参数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75688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② 可微两阶段优化 → Cost 参数梯度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42615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③ iHVP + 样本梯度 → 分数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9544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200" b="0">
                <a:solidFill>
                  <a:srgbClr val="243D4E"/>
                </a:solidFill>
                <a:latin typeface="Noto Sans CJK SC"/>
                <a:ea typeface="Noto Sans CJK SC"/>
              </a:rPr>
              <a:t>④ 权重 LP → w；⑤ 重建加权目标并更新参数</a:t>
            </a:r>
          </a:p>
        </p:txBody>
      </p:sp>
      <p:pic>
        <p:nvPicPr>
          <p:cNvPr id="14" name="S10:equation:1" descr="$R_w(\theta)=\frac{1}{m}\sum_{i\in D_r}w_i\ell_i(\theta)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896" y="4041648"/>
            <a:ext cx="1977726" cy="484632"/>
          </a:xfrm>
          <a:prstGeom prst="rect">
            <a:avLst/>
          </a:prstGeom>
        </p:spPr>
      </p:pic>
      <p:pic>
        <p:nvPicPr>
          <p:cNvPr id="15" name="S10:equation:2" descr="$\theta_{\mathrm{TAMU}}=\theta_0-H_w^{-1}\nabla R_w(\theta_0)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173" y="4745736"/>
            <a:ext cx="3949173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35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局部重加权的收益需要与遗忘程度和评估协议一起读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作者原文实验图仍待 v2 PDF；不把已有复现曲线写成原文证据。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README / eval_unchange.py / func_operation.py；本页为实现边界分析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27632"/>
            <a:ext cx="73152" cy="7589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373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0">
                <a:solidFill>
                  <a:srgbClr val="243D4E"/>
                </a:solidFill>
                <a:latin typeface="Noto Sans CJK SC"/>
                <a:ea typeface="Noto Sans CJK SC"/>
              </a:rPr>
              <a:t>局部近似：删除比例大、非凸表示改变时更需对照重训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70632"/>
            <a:ext cx="73152" cy="7589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0">
                <a:solidFill>
                  <a:srgbClr val="243D4E"/>
                </a:solidFill>
                <a:latin typeface="Noto Sans CJK SC"/>
                <a:ea typeface="Noto Sans CJK SC"/>
              </a:rPr>
              <a:t>遗忘范围：冻结核心下的预测头 ≠ 任意 CNN 全参数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13632"/>
            <a:ext cx="73152" cy="758952"/>
          </a:xfrm>
          <a:prstGeom prst="rect">
            <a:avLst/>
          </a:prstGeom>
          <a:solidFill>
            <a:srgbClr val="B753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300" b="0">
                <a:solidFill>
                  <a:srgbClr val="243D4E"/>
                </a:solidFill>
                <a:latin typeface="Noto Sans CJK SC"/>
                <a:ea typeface="Noto Sans CJK SC"/>
              </a:rPr>
              <a:t>独立评估：原实现使用 test loader 参与评分，不能忽略这一点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30 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TAMU 的核心是让剩余样本的补偿方向服务于运行任务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记住：Cost 梯度经训练曲率修正后，与样本梯度做内积。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算法讲解总结；文献与来源状态见备份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8249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200" b="1">
                <a:solidFill>
                  <a:srgbClr val="087F8C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73736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6354A"/>
                </a:solidFill>
                <a:latin typeface="Noto Sans CJK SC"/>
                <a:ea typeface="Noto Sans CJK SC"/>
              </a:rPr>
              <a:t>直接遗忘：剩余梯度 + 曲率，移除删除集影响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49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200" b="1">
                <a:solidFill>
                  <a:srgbClr val="087F8C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88036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6354A"/>
                </a:solidFill>
                <a:latin typeface="Noto Sans CJK SC"/>
                <a:ea typeface="Noto Sans CJK SC"/>
              </a:rPr>
              <a:t>PAMU：按统计性能，调整剩余样本的重要性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68496"/>
            <a:ext cx="731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3200" b="1">
                <a:solidFill>
                  <a:srgbClr val="087F8C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4023360"/>
            <a:ext cx="9509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16354A"/>
                </a:solidFill>
                <a:latin typeface="Noto Sans CJK SC"/>
                <a:ea typeface="Noto Sans CJK SC"/>
              </a:rPr>
              <a:t>TAMU：让两阶段 Cost 梯度指导同一重加权过程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备份 B1｜上调权重与删除样本的符号为什么相反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S04 的理想导数在 θ(w) 处；作者评分是在 θ₀ 的局部量上构造。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标准影响函数推导；无原文公式编号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13</a:t>
            </a:r>
          </a:p>
        </p:txBody>
      </p:sp>
      <p:pic>
        <p:nvPicPr>
          <p:cNvPr id="10" name="B01:equation:1" descr="$\nabla R(\theta_\epsilon)+\epsilon\nabla\ell_i(\theta_\epsilon)=0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841" y="1444752"/>
            <a:ext cx="4557837" cy="530352"/>
          </a:xfrm>
          <a:prstGeom prst="rect">
            <a:avLst/>
          </a:prstGeom>
        </p:spPr>
      </p:pic>
      <p:pic>
        <p:nvPicPr>
          <p:cNvPr id="11" name="B01:equation:2" descr="$H\frac{d\theta_\epsilon}{d\epsilon}+g_i=0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574" y="2130552"/>
            <a:ext cx="1808370" cy="530352"/>
          </a:xfrm>
          <a:prstGeom prst="rect">
            <a:avLst/>
          </a:prstGeom>
        </p:spPr>
      </p:pic>
      <p:pic>
        <p:nvPicPr>
          <p:cNvPr id="12" name="B01:equation:3" descr="$\frac{d\theta_\epsilon}{d\epsilon}\bigg|_{0}=-H^{-1}g_i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872" y="2816352"/>
            <a:ext cx="2087775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增权：沿负的“逆 Hessian × 样本梯度”方向局部移动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删除：减少样本权重，方向相反；有限删除不等于无穷小扰动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使用平均损失时，归一化与样本数变化必须同步处理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备份 B2｜一步精确来自二次目标，而不是 CNN 的名字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本页为固定特征最小二乘说明；不宣称整个 CNN 可一步精确遗忘。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NN-affine 结构 + 标准最小二乘；归一化常数须与实际损失一致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14</a:t>
            </a:r>
          </a:p>
        </p:txBody>
      </p:sp>
      <p:pic>
        <p:nvPicPr>
          <p:cNvPr id="10" name="B02:equation:1" descr="$R_w(B)=\frac{1}{2m}\|W^{1/2}(ZB-Y)\|_F^2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387" y="1444752"/>
            <a:ext cx="4136745" cy="530352"/>
          </a:xfrm>
          <a:prstGeom prst="rect">
            <a:avLst/>
          </a:prstGeom>
        </p:spPr>
      </p:pic>
      <p:pic>
        <p:nvPicPr>
          <p:cNvPr id="11" name="B02:equation:2" descr="$H_w=\frac{1}{m}Z^T W Z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929" y="2130552"/>
            <a:ext cx="2245661" cy="530352"/>
          </a:xfrm>
          <a:prstGeom prst="rect">
            <a:avLst/>
          </a:prstGeom>
        </p:spPr>
      </p:pic>
      <p:pic>
        <p:nvPicPr>
          <p:cNvPr id="12" name="B02:equation:3" descr="$B^*=(Z^T W Z)^{-1}Z^T W Y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455" y="2816352"/>
            <a:ext cx="4148608" cy="530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6484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固定隐藏特征 Z，偏置可通过常数列加入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正定 / 满列秩时 Newton 与加权最小二乘一致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改变卷积核心后 Z 也变，二次精确条件不再适用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备份 B3｜两阶段目标与约束按作者实现完整保留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可行性与可微性是两项检查；DPP 合规也不等于处处光滑。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作者 utils/optimization.py：stage_one / stage_two；符号为讲解统一记号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15</a:t>
            </a:r>
          </a:p>
        </p:txBody>
      </p:sp>
      <p:pic>
        <p:nvPicPr>
          <p:cNvPr id="10" name="B03:equation:1" descr="$C_1=p^T Qp+c^T p+\lambda\mathbf{1}^T s_1$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31" y="1371600"/>
            <a:ext cx="3761457" cy="448056"/>
          </a:xfrm>
          <a:prstGeom prst="rect">
            <a:avLst/>
          </a:prstGeom>
        </p:spPr>
      </p:pic>
      <p:pic>
        <p:nvPicPr>
          <p:cNvPr id="11" name="B03:equation:2" descr="$C_2=\lambda\mathbf{1}^T s_2+\kappa\|s_2\|_2^2+\rho\mathbf{1}^T g_s+\eta\|g_s\|_2^2$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789" y="1956816"/>
            <a:ext cx="5475941" cy="448056"/>
          </a:xfrm>
          <a:prstGeom prst="rect">
            <a:avLst/>
          </a:prstGeom>
        </p:spPr>
      </p:pic>
      <p:pic>
        <p:nvPicPr>
          <p:cNvPr id="12" name="B03:equation:3" descr="$B_{\rm bus}\varphi_1=C_g p-C_l(\hat d-s_1)$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861" y="2542032"/>
            <a:ext cx="3161797" cy="448056"/>
          </a:xfrm>
          <a:prstGeom prst="rect">
            <a:avLst/>
          </a:prstGeom>
        </p:spPr>
      </p:pic>
      <p:pic>
        <p:nvPicPr>
          <p:cNvPr id="13" name="B03:equation:4" descr="$B_{\rm bus}\varphi_2=C_g(p^*-g_s)-C_l(y-s_2)$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667" y="3127248"/>
            <a:ext cx="4628185" cy="4480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10565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D4E"/>
                </a:solidFill>
                <a:latin typeface="Noto Sans CJK SC"/>
                <a:ea typeface="Noto Sans CJK SC"/>
              </a:rPr>
              <a:t>阶段一：0≤p≤p_max，s1≥0；两阶段均有线路限额与基准相角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53712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D4E"/>
                </a:solidFill>
                <a:latin typeface="Noto Sans CJK SC"/>
                <a:ea typeface="Noto Sans CJK SC"/>
              </a:rPr>
              <a:t>阶段二：s2≥0，g_s≥0；p* 固定为阶段一调度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01768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43D4E"/>
                </a:solidFill>
                <a:latin typeface="Noto Sans CJK SC"/>
                <a:ea typeface="Noto Sans CJK SC"/>
              </a:rPr>
              <a:t>不擅自增加 s≤负荷 或 g_s≤p 等原代码没有的约束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备份 B4｜原文图槽位与补图需求已经分开登记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原文图从 PDF 原样提取；新示意图必须标为“讲解示意”。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图号、子图和结果结论均待 v2 PDF 核验；不预设论文一定含某种具体图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原文 R1：取得 v2 后选择直接遗忘 / 比例变化的结果图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原文 R2：取得 v2 后选择 PAMU / TAMU 的关键对照图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797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补图 D1–D3：仅提供绘图方法文本，不生成实验曲线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30752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BF2EC"/>
          </a:solidFill>
          <a:ln w="8890">
            <a:solidFill>
              <a:srgbClr val="B75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3730752"/>
            <a:ext cx="5074920" cy="1417320"/>
          </a:xfrm>
          <a:prstGeom prst="roundRect">
            <a:avLst>
              <a:gd name="adj" fmla="val 5000"/>
            </a:avLst>
          </a:prstGeom>
          <a:solidFill>
            <a:srgbClr val="FBF2EC"/>
          </a:solidFill>
          <a:ln w="8890">
            <a:solidFill>
              <a:srgbClr val="B753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50791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B75331"/>
                </a:solidFill>
                <a:latin typeface="Noto Sans CJK SC"/>
                <a:ea typeface="Noto Sans CJK SC"/>
              </a:rPr>
              <a:t>原文结果图 R1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B75331"/>
                </a:solidFill>
                <a:latin typeface="Noto Sans CJK SC"/>
                <a:ea typeface="Noto Sans CJK SC"/>
              </a:rPr>
              <a:t>待 PDF · 图号 / 子图待核对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50791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B75331"/>
                </a:solidFill>
                <a:latin typeface="Noto Sans CJK SC"/>
                <a:ea typeface="Noto Sans CJK SC"/>
              </a:rPr>
              <a:t>原文对照图 R2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B75331"/>
                </a:solidFill>
                <a:latin typeface="Noto Sans CJK SC"/>
                <a:ea typeface="Noto Sans CJK SC"/>
              </a:rPr>
              <a:t>待 PDF · 不用复现图顶替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96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087F8C"/>
                </a:solidFill>
                <a:latin typeface="Noto Sans CJK SC"/>
                <a:ea typeface="Noto Sans CJK SC"/>
              </a:rPr>
              <a:t>TASK-AWARE  /  备份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9760" y="201168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96B77"/>
                </a:solidFill>
                <a:latin typeface="Noto Sans CJK SC"/>
                <a:ea typeface="Noto Sans CJK SC"/>
              </a:rPr>
              <a:t>问答备用 · 不计主讲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2014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900" b="1">
                <a:solidFill>
                  <a:srgbClr val="16354A"/>
                </a:solidFill>
                <a:latin typeface="Noto Sans CJK SC"/>
                <a:ea typeface="Noto Sans CJK SC"/>
              </a:rPr>
              <a:t>备份 B5｜来源、版本与 MIT 设计原则的核对状态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824728"/>
            <a:ext cx="11183112" cy="521207"/>
          </a:xfrm>
          <a:prstGeom prst="rect">
            <a:avLst/>
          </a:prstGeom>
          <a:solidFill>
            <a:srgbClr val="EA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5925312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</a:rPr>
              <a:t>正式定稿还需要论文 v2 PDF；不把工作稿标成原文精读终稿。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8082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>
                <a:solidFill>
                  <a:srgbClr val="596B77"/>
                </a:solidFill>
                <a:latin typeface="Noto Sans CJK SC"/>
                <a:ea typeface="Noto Sans CJK SC"/>
              </a:rPr>
              <a:t>来源和访问错误完整记录在 source_manifest.json 与设计核对表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02568" y="64739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596B77"/>
                </a:solidFill>
                <a:latin typeface="Noto Sans CJK SC"/>
                <a:ea typeface="Noto Sans CJK SC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论文：v2 入口已定位，全文 403；当前是作者代码核对工作稿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How to Speak：已读 MIT 官方课程页面源码；未观看完整视频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36976"/>
            <a:ext cx="1056132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>
                <a:solidFill>
                  <a:srgbClr val="243D4E"/>
                </a:solidFill>
                <a:latin typeface="Noto Sans CJK SC"/>
                <a:ea typeface="Noto Sans CJK SC"/>
              </a:rPr>
              <a:t>NSE Slideshow：页面 403，设计核对为归纳适配，未逐条核实原页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19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  <a:hlinkClick r:id="rId2"/>
              </a:rPr>
              <a:t>目标论文 v2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  <a:hlinkClick r:id="rId3"/>
              </a:rPr>
              <a:t>作者实现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6402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  <a:hlinkClick r:id="rId4"/>
              </a:rPr>
              <a:t>MIT How to Speak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64024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1">
                <a:solidFill>
                  <a:srgbClr val="087F8C"/>
                </a:solidFill>
                <a:latin typeface="Noto Sans CJK SC"/>
                <a:ea typeface="Noto Sans CJK SC"/>
                <a:hlinkClick r:id="rId5"/>
              </a:rPr>
              <a:t>MIT NSE Slideshow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Task-Aware Machine Unlearning｜10–13 分钟算法解析工作稿</dc:title>
  <dc:subject>作者实现核对；论文 v2 与实验原图尚待核验；MIT 风格适配</dc:subject>
  <dc:creator>task_aware_machine_unlearning 项目研究材料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